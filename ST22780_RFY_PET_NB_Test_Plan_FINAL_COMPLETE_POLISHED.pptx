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6" r:id="rId7"/>
    <p:sldId id="277" r:id="rId8"/>
    <p:sldId id="262" r:id="rId9"/>
    <p:sldId id="263" r:id="rId10"/>
    <p:sldId id="264" r:id="rId11"/>
    <p:sldId id="265" r:id="rId12"/>
    <p:sldId id="266" r:id="rId13"/>
    <p:sldId id="275" r:id="rId1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31422-434E-489C-9F3A-6C6ABB6D4412}" v="14" dt="2026-10-06T18:24:15.243"/>
    <p1510:client id="{D863D173-8505-4C10-9E8A-7DA8575644E4}" v="99" dt="2026-10-07T14:58:19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Playbook.xlsx&lt;/File&gt;.
- &lt;File&gt;USPPIGNP-I-212 New Rewards Offering for Surest ASO Cross-Carrier Clients Project Kick Off.pptx&lt;/File&gt;.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RFY Product Details.
- &lt;File&gt;USPPIGNP-I-212 New Rewards Offering for Surest ASO Cross-Carrier Clients Project Kick Off.pptx&lt;/File&gt;, Project Charter and Scope.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Scope of Work by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&lt;File&gt;NB PET Status for Surest ASO.pptx&lt;/File&gt;.</a:t>
            </a:r>
          </a:p>
          <a:p>
            <a:r>
              <a:t>- &lt;File&gt;USPPIGNP-I-212-New Rewards Offering for Surest ASO Cross-Carrier Clients Playbook.xlsx&lt;/File&gt;.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Milestones.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NA Client Services open questions.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DRA-Nimbus, DRA-UDW, Stratus, and CARS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COM360 and Cirrus QIB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 New Rewards Offering for Surest ASO Cross-Carrier Clients Project Kick Off.pptx&lt;/File&gt;, Scope.
- &lt;File&gt;9/14 - USPPIGNP-I-212 New Rewards offering for Surest ASO cross carrier clients&lt;/File&gt;.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No external sources.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 w="12700">
            <a:solidFill>
              <a:srgbClr val="245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EAF7"/>
                </a:solidFill>
              </a:rPr>
              <a:t>Product Ecosystem Testing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607080"/>
                </a:solidFill>
              </a:rPr>
              <a:t>UHC Technology  |  Better Together</a:t>
            </a:r>
            <a:endParaRPr lang="en-US" sz="5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2834640" cy="1097280"/>
          </a:xfrm>
          <a:prstGeom prst="chevron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2926080" cy="1280160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2651760"/>
            <a:ext cx="3337560" cy="2331720"/>
          </a:xfrm>
          <a:prstGeom prst="chevron">
            <a:avLst/>
          </a:prstGeom>
          <a:solidFill>
            <a:srgbClr val="1C2C72"/>
          </a:solidFill>
          <a:ln w="12700">
            <a:solidFill>
              <a:srgbClr val="1C2C7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8620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E568C"/>
                </a:solidFill>
                <a:latin typeface="Arial"/>
              </a:rPr>
              <a:t>ST22780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3886200" y="2304288"/>
            <a:ext cx="4663440" cy="132588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000" b="1">
                <a:solidFill>
                  <a:srgbClr val="0D2B4E"/>
                </a:solidFill>
                <a:latin typeface="Arial"/>
              </a:rPr>
              <a:t>Rewards For You (RFY)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000" b="1">
                <a:solidFill>
                  <a:srgbClr val="0D2B4E"/>
                </a:solidFill>
                <a:latin typeface="Arial"/>
              </a:rPr>
              <a:t>PET New Business Test Plan</a:t>
            </a:r>
          </a:p>
        </p:txBody>
      </p:sp>
      <p:sp>
        <p:nvSpPr>
          <p:cNvPr id="7" name="Text 5"/>
          <p:cNvSpPr/>
          <p:nvPr/>
        </p:nvSpPr>
        <p:spPr>
          <a:xfrm>
            <a:off x="3886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00" b="0">
                <a:solidFill>
                  <a:srgbClr val="69747E"/>
                </a:solidFill>
                <a:latin typeface="Arial"/>
              </a:rPr>
              <a:t>Aha: USPPIGNP-I-212  |  Go Live: January 1, 2027</a:t>
            </a:r>
            <a:endParaRPr lang="en-US" sz="1050"/>
          </a:p>
        </p:txBody>
      </p:sp>
      <p:sp>
        <p:nvSpPr>
          <p:cNvPr id="8" name="Rectangle 7"/>
          <p:cNvSpPr/>
          <p:nvPr/>
        </p:nvSpPr>
        <p:spPr>
          <a:xfrm>
            <a:off x="3886200" y="1508760"/>
            <a:ext cx="68580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Project Overview and Business Purpose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0D2B4E"/>
                </a:solidFill>
                <a:latin typeface="Arial"/>
              </a:rPr>
              <a:t>Business Purpose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Replace the legacy Optum Engage offering with Rewards For You for the confirmed Surest ASO client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Enable three configurable RFY buy-up tiers for Key and National Account clients.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Support member eligibility, billing, extracts / streaming, member maintenance, and approved digital experiences.</a:t>
            </a:r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758184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328250"/>
                </a:solidFill>
                <a:latin typeface="Arial"/>
              </a:rPr>
              <a:t>Product Positioning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837176" y="1892808"/>
            <a:ext cx="3721608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RFY supports the confirmed Surest ASO client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RFY is an add-on / buy-up offering.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The three approved RFY tiers are included in PET New Business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UHC ASO Rewards population support is out of scope for the January 1, 2027 launch.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Impact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22860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PIM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Products + IDs</a:t>
            </a:r>
            <a:endParaRPr lang="en-US" sz="750"/>
          </a:p>
        </p:txBody>
      </p:sp>
      <p:sp>
        <p:nvSpPr>
          <p:cNvPr id="6" name="Shape 4"/>
          <p:cNvSpPr/>
          <p:nvPr/>
        </p:nvSpPr>
        <p:spPr>
          <a:xfrm>
            <a:off x="129844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90472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36192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OBM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536192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Manual setup + publish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560320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52344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98064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Cirrus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798064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Bill item + plan option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3822192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14216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9936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CDB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059936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Eligibility counts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5084064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76088" y="1965960"/>
            <a:ext cx="1051560" cy="777240"/>
          </a:xfrm>
          <a:prstGeom prst="roundRect">
            <a:avLst/>
          </a:prstGeom>
          <a:solidFill>
            <a:srgbClr val="F36C2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21808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BRMS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21808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Billing calculation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6345936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Finance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FTS / PCMT / UDW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760780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99832" y="1965960"/>
            <a:ext cx="1051560" cy="7772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45552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0D2B4E"/>
                </a:solidFill>
                <a:latin typeface="Arial"/>
              </a:rPr>
              <a:t>Extracts / Streaming</a:t>
            </a:r>
          </a:p>
        </p:txBody>
      </p:sp>
      <p:sp>
        <p:nvSpPr>
          <p:cNvPr id="29" name="Text 27"/>
          <p:cNvSpPr/>
          <p:nvPr/>
        </p:nvSpPr>
        <p:spPr>
          <a:xfrm>
            <a:off x="7845552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0D2B4E"/>
                </a:solidFill>
                <a:latin typeface="Arial"/>
              </a:rPr>
              <a:t>OptumRx / BOSS</a:t>
            </a:r>
          </a:p>
        </p:txBody>
      </p:sp>
      <p:sp>
        <p:nvSpPr>
          <p:cNvPr id="30" name="Text 28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0" dirty="0">
                <a:solidFill>
                  <a:srgbClr val="0D2B4E"/>
                </a:solidFill>
                <a:latin typeface="Arial"/>
              </a:rPr>
              <a:t>E2E objective: validate RFY configuration and identifiers from product setup through eligibility, billing, financial processing, reporting, and member visibility.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0D2B4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Impacted Applications and Validation Classification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86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886200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Confirmed PET NB Scope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38862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Case Install / Enrollment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OBM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Surest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Member enrollment through CIP</a:t>
            </a:r>
            <a:r>
              <a:rPr lang="en-US" sz="1450" b="0" dirty="0">
                <a:solidFill>
                  <a:srgbClr val="222B34"/>
                </a:solidFill>
                <a:latin typeface="Arial"/>
              </a:rPr>
              <a:t>/DSS</a:t>
            </a:r>
            <a:endParaRPr sz="930" b="0" dirty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CDB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930" b="0" dirty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Digital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ACET Member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ACET BEO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SPIRE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222B34"/>
                </a:solidFill>
                <a:latin typeface="Arial"/>
              </a:rPr>
              <a:t>myUHC</a:t>
            </a:r>
            <a:r>
              <a:rPr sz="1450" b="0" dirty="0">
                <a:solidFill>
                  <a:srgbClr val="222B34"/>
                </a:solidFill>
                <a:latin typeface="Arial"/>
              </a:rPr>
              <a:t> / Surest member portal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886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3886200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28250"/>
                </a:solidFill>
                <a:latin typeface="Arial"/>
              </a:rPr>
              <a:t>Additional Integrated Scope</a:t>
            </a:r>
          </a:p>
        </p:txBody>
      </p:sp>
      <p:sp>
        <p:nvSpPr>
          <p:cNvPr id="14" name="Text 12"/>
          <p:cNvSpPr/>
          <p:nvPr/>
        </p:nvSpPr>
        <p:spPr>
          <a:xfrm>
            <a:off x="4754880" y="1801368"/>
            <a:ext cx="38862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Billing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BRMS and BASICS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New bill item type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New billing schedules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Case-rate billing for approved non-UHG populations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Member-level eligibility for billing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880" b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Extracts / Streaming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OptumRx and BOSS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880" b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Member Maintenance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B&amp;E Portals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dirty="0" sz="2200" b="1">
                <a:solidFill>
                  <a:srgbClr val="FFFFFF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3" name="Text 1"/>
          <p:cNvSpPr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0D2B4E"/>
                </a:solidFill>
                <a:latin typeface="Arial"/>
              </a:rPr>
              <a:t>Part 1 – New Business Case Install Readiness and E2E Validation</a:t>
            </a:r>
          </a:p>
        </p:txBody>
      </p:sp>
      <p:sp>
        <p:nvSpPr>
          <p:cNvPr id="4" name="Text 2"/>
          <p:cNvSpPr/>
          <p:nvPr/>
        </p:nvSpPr>
        <p:spPr>
          <a:xfrm>
            <a:off x="530352" y="1801368"/>
            <a:ext cx="8092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Confirm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OBM, Surest, SAMX-NA, CIP, CDB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, and required downstream applications are test-ready.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three approved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RFY tiers and identifiers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newly added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RFY bill item type in Cirrus, BRMS, and BASICS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associated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billing schedules, rates, effective dates, and expiration dates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case-rate billing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for the approved non-UHG population.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member-level eligibility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used to determine the billable population.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member enrollment through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CIP and CDB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Digital, Extracts/Streaming, and Member Maintenance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scope.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Capture evidence, log defects, coordinate retesting, and confirm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PET NB sign-off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9EAF7"/>
                </a:solidFill>
                <a:latin typeface="Arial"/>
              </a:defRPr>
            </a:pPr>
            <a:r>
              <a:rPr sz="1000" b="1">
                <a:solidFill>
                  <a:srgbClr val="69747E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9333D"/>
                </a:solidFill>
                <a:latin typeface="Arial"/>
              </a:defRPr>
            </a:pPr>
            <a:r>
              <a:rPr sz="1300" b="1">
                <a:solidFill>
                  <a:srgbClr val="0D2B4E"/>
                </a:solidFill>
                <a:latin typeface="Arial"/>
              </a:rPr>
              <a:t>Part 2 – Group Install and Plan-Option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550">
                <a:solidFill>
                  <a:srgbClr val="607080"/>
                </a:solidFill>
                <a:latin typeface="Arial"/>
              </a:defRPr>
            </a:pPr>
            <a:r>
              <a:rPr sz="1400" b="0">
                <a:solidFill>
                  <a:srgbClr val="222B34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2246128" cy="253916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300" dirty="0" b="1">
                <a:solidFill>
                  <a:srgbClr val="0D2B4E"/>
                </a:solidFill>
                <a:latin typeface="Arial"/>
              </a:rPr>
              <a:t>Positive Group Install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13388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RFY Custom, RFY Client Fulfilled Custom, and RFY Client Fulfilled Survey.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Case Install through OBM, Surest</a:t>
            </a:r>
          </a:p>
          <a:p>
            <a:pPr fontAlgn="t" algn="l">
              <a:lnSpc>
                <a:spcPct val="108000"/>
              </a:lnSpc>
              <a:spcAft>
                <a:spcPts val="500"/>
              </a:spcAft>
              <a:buNone/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</a:t>
            </a:r>
            <a:r>
              <a:rPr lang="en-US" sz="1400" dirty="0" b="0">
                <a:solidFill>
                  <a:srgbClr val="222B34"/>
                </a:solidFill>
                <a:latin typeface="Arial"/>
              </a:rPr>
              <a:t>Validate that member eligibility is received through CIP and correctly processed in CDB.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ACET Member, ACET BEO, SPIRE, and </a:t>
            </a:r>
            <a:r>
              <a:rPr sz="1400" b="0" dirty="0" err="1">
                <a:solidFill>
                  <a:srgbClr val="222B34"/>
                </a:solidFill>
                <a:latin typeface="Arial"/>
              </a:rPr>
              <a:t>myUHC</a:t>
            </a:r>
            <a:r>
              <a:rPr sz="1400" b="0" dirty="0">
                <a:solidFill>
                  <a:srgbClr val="222B34"/>
                </a:solidFill>
                <a:latin typeface="Arial"/>
              </a:rPr>
              <a:t> / Surest member portal.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new bill items, billing schedules, case-rate billing, member-level eligibility, OptumRx, BOSS, and B&amp;E Portal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3758183" cy="201168"/>
          </a:xfrm>
          <a:prstGeom prst="rect">
            <a:avLst/>
          </a:prstGeom>
          <a:solidFill>
            <a:srgbClr val="EBF6EE"/>
          </a:solidFill>
          <a:ln w="13970">
            <a:solidFill>
              <a:srgbClr val="328250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328250"/>
                </a:solidFill>
                <a:latin typeface="Arial"/>
              </a:rPr>
              <a:t>Negative and Multi-Plan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RFY is not attached when the New Business group did not purchase the offering.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RFY cannot be configured for a non-ASO group.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installation is rejected or held when required RFY product, identifier, rate, date, or billing data is missing.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For a group with multiple medical plan options, verify RFY attaches only to the approved plan option.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a non-eligible member or population does not receive RFY eligibility.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9EAF7"/>
                </a:solidFill>
                <a:latin typeface="Arial"/>
              </a:defRPr>
            </a:pPr>
            <a:r>
              <a:rPr sz="1000" b="1">
                <a:solidFill>
                  <a:srgbClr val="69747E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Part 3 – PET New Business Scope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550">
                <a:solidFill>
                  <a:srgbClr val="607080"/>
                </a:solidFill>
                <a:latin typeface="Arial"/>
              </a:defRPr>
            </a:pPr>
            <a:r>
              <a:rPr sz="1400" b="0">
                <a:solidFill>
                  <a:srgbClr val="222B34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3758183" cy="201168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Outside PET NB Scope / Separate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Optum Engage migration and renewal testing are not included in this PET NB plan unless separately assigned.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Claims adjudication, provider, and clinical testing are excluded.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RFY-specific ID-card changes and new fulfillment functionality are excluded.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Reward algorithms and detailed vendor integrations are excluded unless separately approved.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Separate owners must confirm any additional migration, renewal, clinical, or claims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2029723" cy="253916"/>
          </a:xfrm>
          <a:prstGeom prst="rect">
            <a:avLst/>
          </a:prstGeom>
          <a:solidFill>
            <a:srgbClr val="EBF6EE"/>
          </a:solidFill>
          <a:ln w="13970">
            <a:solidFill>
              <a:srgbClr val="328250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dirty="0" b="1">
                <a:solidFill>
                  <a:srgbClr val="328250"/>
                </a:solidFill>
                <a:latin typeface="Arial"/>
              </a:rPr>
              <a:t>PET NB Included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Future-effective New Business RFY setup.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Member maintenance, including B&amp;E Portal validation.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RFY rate, effective-date, or expiration-date correction before go-live, if supported.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downstream systems do not create duplicate billing or RFY associations.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448056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0D2B4E"/>
                </a:solidFill>
                <a:latin typeface="Arial"/>
              </a:rPr>
              <a:t>Billing and Eligibility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the newly added RFY bill item type in BRMS and BASICS.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new billing schedules and approved schedule fields.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case-rate billing for the approved non-UHG population.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member-level eligibility used to determine the billable population.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bill item amount, effective and expiration dates, proration codes, and assignment-use type.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Confirm BRMS and BASICS billing results match approved expected results.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applicable B&amp;E Portal billing visibility, if included.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33872"/>
            <a:ext cx="79552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850" b="1">
                <a:solidFill>
                  <a:srgbClr val="F36C21"/>
                </a:solidFill>
                <a:latin typeface="Arial"/>
              </a:defRPr>
            </a:pPr>
            <a:r>
              <a:rPr sz="1450" b="0">
                <a:solidFill>
                  <a:srgbClr val="222B34"/>
                </a:solidFill>
                <a:latin typeface="Arial"/>
              </a:rPr>
              <a:t>Current expected OBM/Cirrus mapping: Billing Schedule Type 02 | Calculation Method 08 (Per Unit) | Enrollment Proration 01 | Termination Proration 01 | Assignment Use Type 03 | Rate Guarantee false. Subject to approved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ptos Display"/>
              </a:rPr>
              <a:t>PET New Business Testing Scope</a:t>
            </a:r>
            <a:endParaRPr lang="en-US" sz="2100"/>
          </a:p>
        </p:txBody>
      </p:sp>
      <p:sp>
        <p:nvSpPr>
          <p:cNvPr id="3" name="Rounded Rectangle 2"/>
          <p:cNvSpPr/>
          <p:nvPr/>
        </p:nvSpPr>
        <p:spPr>
          <a:xfrm>
            <a:off x="228600" y="1353312"/>
            <a:ext cx="2788920" cy="361188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53312"/>
            <a:ext cx="2788920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8328" y="1353312"/>
            <a:ext cx="2560320" cy="347472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ACET Member / ACET BEO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1764792"/>
            <a:ext cx="25328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approved RFY eligibility and utilization-plan information.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eligible and non-eligible member controls.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approved group, plan, and member information.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Detailed fields and expected results: TBD.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353312"/>
            <a:ext cx="2788920" cy="361188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82112" y="1353312"/>
            <a:ext cx="2788920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53312"/>
            <a:ext cx="2560320" cy="347472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SPIRE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764792"/>
            <a:ext cx="25328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approved RFY information in SPIRE.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Confirm member and eligibility results display correctly.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Confirm non-eligible members do not display RFY incorrectly.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Environment, access, fields, and expected results: TBD.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53312"/>
            <a:ext cx="2788920" cy="361188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353312"/>
            <a:ext cx="2788920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353312"/>
            <a:ext cx="2560320" cy="347472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myUHC / Surest Member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764792"/>
            <a:ext cx="253288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approved portal scope for eligible RFY members.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Confirm RFY program visibility and access.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Validate applicable member-maintenance impacts.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• Environment, credentials, ownership, and expected results: TBD.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ptos Display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1508760" y="1417320"/>
            <a:ext cx="6126480" cy="3703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61264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8760" y="1417320"/>
            <a:ext cx="6126480" cy="347472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8288" tIns="18288" rIns="18288" rtlCol="0" anchor="ctr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Aptos"/>
              </a:rPr>
              <a:t>BOSS</a:t>
            </a:r>
          </a:p>
        </p:txBody>
      </p:sp>
      <p:sp>
        <p:nvSpPr>
          <p:cNvPr id="6" name="Text 4"/>
          <p:cNvSpPr/>
          <p:nvPr/>
        </p:nvSpPr>
        <p:spPr>
          <a:xfrm>
            <a:off x="1508760" y="1810512"/>
            <a:ext cx="6126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342900" indent="-342900" fontAlgn="t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500" b="0">
                <a:solidFill>
                  <a:srgbClr val="2D2D2D"/>
                </a:solidFill>
                <a:latin typeface="Aptos"/>
              </a:defRPr>
            </a:pPr>
            <a:r>
              <a:t>Validate the approved RFY values are received and processed in BOSS.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D2D2D"/>
                </a:solidFill>
                <a:latin typeface="Aptos"/>
              </a:defRPr>
            </a:pPr>
            <a:r>
              <a:t>Validate the applicable RFY identifiers and effective dates.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D2D2D"/>
                </a:solidFill>
                <a:latin typeface="Aptos"/>
              </a:defRPr>
            </a:pPr>
            <a:r>
              <a:t>Confirm RFY data is associated with the correct group or population based on approved requirements.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D2D2D"/>
                </a:solidFill>
                <a:latin typeface="Aptos"/>
              </a:defRPr>
            </a:pPr>
            <a:r>
              <a:t>Validate expected BOSS results using application-team evidence.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D2D2D"/>
                </a:solidFill>
                <a:latin typeface="Aptos"/>
              </a:defRPr>
            </a:pPr>
            <a:r>
              <a:t>Support defect triage if the expected RFY data does not reach BOSS.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ptos Display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3703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3758184" cy="347472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8288" tIns="18288" rIns="18288" rtlCol="0" anchor="ctr" bIns="1828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ID Cards – Regression Only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10512"/>
            <a:ext cx="37216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152400" indent="-15240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  <a:defRPr sz="1350" b="0">
                <a:solidFill>
                  <a:srgbClr val="2D2D2D"/>
                </a:solidFill>
                <a:latin typeface="Aptos"/>
              </a:defRPr>
            </a:pPr>
            <a:r>
              <a:t>No RFY-specific ID-card design or content requirement is confirmed.</a:t>
            </a:r>
            <a:endParaRPr lang="en-US" sz="1130" dirty="0"/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Validate standard card generation only if the application team requests regression coverage.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Confirm RFY setup does not suppress or fail existing card generation.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RFY-specific wording, logo, and benefit content are out of scope unless requirements change.</a:t>
            </a:r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37033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17320"/>
            <a:ext cx="3758184" cy="347472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8288" tIns="18288" rIns="18288" rtlCol="0" anchor="ctr" bIns="1828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ptos"/>
              </a:rPr>
              <a:t>Fulfillment – No Impact / 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7176" y="1810512"/>
            <a:ext cx="37216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152400" indent="-15240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  <a:defRPr sz="1350" b="0">
                <a:solidFill>
                  <a:srgbClr val="2D2D2D"/>
                </a:solidFill>
                <a:latin typeface="Aptos"/>
              </a:defRPr>
            </a:pPr>
            <a:r>
              <a:t>COM360 and QIB/member fulfillment are identified as no impact.</a:t>
            </a:r>
            <a:endParaRPr lang="en-US" sz="1130"/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Validate existing document or portal pass-through only if requested.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No new RFY fields or fulfillment documents are currently confirmed.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defRPr sz="1350" b="0">
                <a:solidFill>
                  <a:srgbClr val="2D2D2D"/>
                </a:solidFill>
                <a:latin typeface="Aptos"/>
              </a:defRPr>
            </a:pPr>
            <a:r>
              <a:t>Document types, archival validation, and test access: TBD.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ptos Display"/>
              </a:rPr>
              <a:t>In Scope, Out of Scope, and Separate Dependencies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320040" y="1325880"/>
            <a:ext cx="2743200" cy="41605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1325880"/>
            <a:ext cx="2523744" cy="347472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8288" tIns="18288" rIns="18288" rtlCol="0" anchor="ctr" bIns="1828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In Scope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48056" y="1737360"/>
            <a:ext cx="24871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342900" indent="-342900" fontAlgn="t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20" b="0">
                <a:solidFill>
                  <a:srgbClr val="2D2D2D"/>
                </a:solidFill>
                <a:latin typeface="Aptos"/>
              </a:defRPr>
            </a:pPr>
            <a:r>
              <a:t>Case Install: OBM, Surest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Eligibility processing: CIP and CDB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Digital: ACET Member, ACET BEO, SPIRE, myUHC/Surest Member Portal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Billing: Cirrus, BRMS, BASICS, new bill items and billing schedules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Extracts/Streaming: BOSS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Member Maintenance, including B&amp;E Portals</a:t>
            </a:r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743200" cy="41605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325880"/>
            <a:ext cx="2523744" cy="347472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8288" tIns="18288" rIns="18288" rtlCol="0" anchor="ctr" bIns="1828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Out of Scope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28416" y="1737360"/>
            <a:ext cx="24871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342900" indent="-342900" fontAlgn="t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20" b="0">
                <a:solidFill>
                  <a:srgbClr val="2D2D2D"/>
                </a:solidFill>
                <a:latin typeface="Aptos"/>
              </a:defRPr>
            </a:pPr>
            <a:r>
              <a:t>UHC ASO Rewards population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Claims and provider testing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Clinical testing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RFY-specific ID-card changes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New fulfillment functionality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Detailed application-component testing unless specifically assigned</a:t>
            </a:r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743200" cy="41605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743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0488" y="1325880"/>
            <a:ext cx="2523744" cy="347472"/>
          </a:xfrm>
          <a:prstGeom prst="rect">
            <a:avLst/>
          </a:prstGeom>
          <a:solidFill>
            <a:srgbClr val="F4F0E7"/>
          </a:solidFill>
          <a:ln w="15240">
            <a:solidFill>
              <a:srgbClr val="AA7D2D"/>
            </a:solidFill>
          </a:ln>
        </p:spPr>
        <p:txBody>
          <a:bodyPr wrap="square" lIns="18288" tIns="18288" rIns="18288" rtlCol="0" anchor="ctr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dirty="0">
                <a:solidFill>
                  <a:srgbClr val="FFFFFF"/>
                </a:solidFill>
                <a:latin typeface="Aptos"/>
              </a:rPr>
              <a:t>TBD /Separate Dependencies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8776" y="1737360"/>
            <a:ext cx="24871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36576" tIns="36576" rIns="36576" rtlCol="0" anchor="ctr" bIns="36576">
            <a:normAutofit/>
          </a:bodyPr>
          <a:lstStyle/>
          <a:p>
            <a:pPr marL="342900" indent="-342900" fontAlgn="t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320" b="0">
                <a:solidFill>
                  <a:srgbClr val="2D2D2D"/>
                </a:solidFill>
                <a:latin typeface="Aptos"/>
              </a:defRPr>
            </a:pPr>
            <a:r>
              <a:t>OptumRx impact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Renewal or migration testing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Final case-rate billing rules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Final member-level billing eligibility rules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Application access and expected results</a:t>
            </a:r>
          </a:p>
          <a:p>
            <a:pPr>
              <a:buChar char="•"/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320" b="0">
                <a:solidFill>
                  <a:srgbClr val="2D2D2D"/>
                </a:solidFill>
                <a:latin typeface="Aptos"/>
              </a:defRPr>
            </a:pPr>
            <a:r>
              <a:t>Detailed portal and extract validation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222B3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 rot="900000">
            <a:off x="1965960" y="1188720"/>
            <a:ext cx="5212080" cy="4206240"/>
          </a:xfrm>
          <a:prstGeom prst="ellipse">
            <a:avLst/>
          </a:prstGeom>
          <a:solidFill>
            <a:srgbClr val="E8F1F9"/>
          </a:solidFill>
          <a:ln w="12700">
            <a:solidFill>
              <a:srgbClr val="CDDAE6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965960" y="2926080"/>
            <a:ext cx="5212080" cy="54864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3200" b="1">
                <a:solidFill>
                  <a:srgbClr val="0D2B4E"/>
                </a:solidFill>
                <a:latin typeface="Arial"/>
              </a:rPr>
              <a:t>Thank You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22860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69747E"/>
                </a:solidFill>
                <a:latin typeface="Arial"/>
              </a:rPr>
              <a:t>Questions and scope confirmations</a:t>
            </a:r>
            <a:endParaRPr lang="en-US" sz="1200"/>
          </a:p>
        </p:txBody>
      </p:sp>
      <p:sp>
        <p:nvSpPr>
          <p:cNvPr id="5" name="Rectangle 4"/>
          <p:cNvSpPr/>
          <p:nvPr/>
        </p:nvSpPr>
        <p:spPr>
          <a:xfrm>
            <a:off x="3977639" y="4315968"/>
            <a:ext cx="6400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1748</Words>
  <Application>Microsoft Office PowerPoint</Application>
  <PresentationFormat>On-screen Show (4:3)</PresentationFormat>
  <Paragraphs>198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ST22780 Rewards For You PET Test Plan - Final</dc:title>
  <dc:subject>Product Ecosystem Testing Plan</dc:subject>
  <dc:creator>Mohite, Sakshi M</dc:creator>
  <cp:lastModifiedBy>Mohite, Sakshi M</cp:lastModifiedBy>
  <cp:revision>4</cp:revision>
  <dcterms:created xsi:type="dcterms:W3CDTF">2026-10-07T14:35:22Z</dcterms:created>
  <dcterms:modified xsi:type="dcterms:W3CDTF">2026-10-07T15:02:40Z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261ece-9d32-4744-8e78-9dd7bfb52643_Enabled">
    <vt:lpwstr>true</vt:lpwstr>
  </property>
  <property fmtid="{D5CDD505-2E9C-101B-9397-08002B2CF9AE}" pid="3" name="MSIP_Label_50261ece-9d32-4744-8e78-9dd7bfb52643_SetDate">
    <vt:lpwstr>2026-10-06T18:16:37Z</vt:lpwstr>
  </property>
  <property fmtid="{D5CDD505-2E9C-101B-9397-08002B2CF9AE}" pid="4" name="MSIP_Label_50261ece-9d32-4744-8e78-9dd7bfb52643_Method">
    <vt:lpwstr>Privileged</vt:lpwstr>
  </property>
  <property fmtid="{D5CDD505-2E9C-101B-9397-08002B2CF9AE}" pid="5" name="MSIP_Label_50261ece-9d32-4744-8e78-9dd7bfb52643_Name">
    <vt:lpwstr>Internal Public</vt:lpwstr>
  </property>
  <property fmtid="{D5CDD505-2E9C-101B-9397-08002B2CF9AE}" pid="6" name="MSIP_Label_50261ece-9d32-4744-8e78-9dd7bfb52643_SiteId">
    <vt:lpwstr>db05faca-c82a-4b9d-b9c5-0f64b6755421</vt:lpwstr>
  </property>
  <property fmtid="{D5CDD505-2E9C-101B-9397-08002B2CF9AE}" pid="7" name="MSIP_Label_50261ece-9d32-4744-8e78-9dd7bfb52643_ActionId">
    <vt:lpwstr>1d0229d3-029e-4000-851d-9716853df02e</vt:lpwstr>
  </property>
  <property fmtid="{D5CDD505-2E9C-101B-9397-08002B2CF9AE}" pid="8" name="MSIP_Label_50261ece-9d32-4744-8e78-9dd7bfb52643_ContentBits">
    <vt:lpwstr>0</vt:lpwstr>
  </property>
</Properties>
</file>